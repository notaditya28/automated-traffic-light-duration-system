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7" r:id="rId1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.png"/><Relationship Id="rId3" Type="http://schemas.openxmlformats.org/officeDocument/2006/relationships/image" Target="../media/img2.png"/><Relationship Id="rId4" Type="http://schemas.openxmlformats.org/officeDocument/2006/relationships/image" Target="../media/img3.png"/><Relationship Id="rId5" Type="http://schemas.openxmlformats.org/officeDocument/2006/relationships/image" Target="../media/img5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82296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554480"/>
            <a:ext cx="594360" cy="59436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286000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36992" y="822960"/>
            <a:ext cx="256032" cy="1737360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Traffic Light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System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Computer Vision on NVIDIA Jetson Nano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5943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Aditya Nahata  |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1024240083  |  Group: 2X13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UTA035 – Engineering Design Project (Edge Computing)  |  TIET, Patiala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Fixed-timer traffic lights waste green time on empty lanes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lanes wait too long, causing unnecessary congestion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adaptation to actual vehicle density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Road-sensor based systems are expensive to install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camera-based, edge AI system on Jetson Nano that detects vehicles in real time and dynamically adjusts green light duration per lane — no road sensors needed.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931920" cy="15544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Fixed Timer System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time: always 30s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A: 2 cars → 28s wasted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B: 20 cars → 30s not enough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971800"/>
            <a:ext cx="3931920" cy="155448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3063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Adaptive System (Ours)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41071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A: 2 cars  →  14s green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B: 20 cars →  50s green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~35% less wait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17320"/>
            <a:ext cx="41148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42646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count vehicles in each lane from live camera feed using YOLOv8-nano on Jetson Nano.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411480" cy="4114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6472" y="142646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Duration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compute green light duration based on vehicle density using the adaptive formula.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417320"/>
            <a:ext cx="411480" cy="411480"/>
          </a:xfrm>
          <a:prstGeom prst="ellipse">
            <a:avLst/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56832" y="142646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87452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GREEN/YELLOW/RED signal cycle per lane with OpenCV visual overlay output.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971800"/>
            <a:ext cx="411480" cy="411480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298094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Performance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42900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real-time FPS on Jetson Nano using TensorRT-optimised inference without cloud.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2834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2971800"/>
            <a:ext cx="411480" cy="411480"/>
          </a:xfrm>
          <a:prstGeom prst="ellipse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76472" y="298094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42900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well-documented Python codebase with separate modules for detection, control, and display.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834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971800"/>
            <a:ext cx="411480" cy="411480"/>
          </a:xfrm>
          <a:prstGeom prst="ellipse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56832" y="2980944"/>
            <a:ext cx="1947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72200" y="3429000"/>
            <a:ext cx="2441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detection accuracy (mAP), processing speed (FPS), and signal timing efficiency.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Block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150876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74520" y="1280160"/>
            <a:ext cx="1508760" cy="8229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7452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69164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520440" y="1280160"/>
            <a:ext cx="150876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Count/Lane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66360" y="1280160"/>
            <a:ext cx="150876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6636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3657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280160"/>
            <a:ext cx="1508760" cy="8229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2801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28600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2286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Adaptive Formula:  </a:t>
            </a:r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green_time = clamp( 10 + count × 2,  T_min=10s,  T_max=60s 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017520"/>
            <a:ext cx="283464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17520"/>
            <a:ext cx="2834640" cy="3017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175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336499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YOLOv8-nano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640×640 px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car, bike, bus, truck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threshold: 0.4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3017520"/>
            <a:ext cx="283464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017520"/>
            <a:ext cx="2834640" cy="3017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0175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36499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GREEN → YELLOW → RED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fixed: 3 seconds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lane cycling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 update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80760" y="3017520"/>
            <a:ext cx="2834640" cy="1828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017520"/>
            <a:ext cx="2834640" cy="3017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30175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364992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HUD overlay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signals + timer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count per lane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display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4206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Jetson Nano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4GB RAM, 128-core Maxwell GPU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Webcam / CSI Camera 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Quad-core ARM Cortex-A57 @ 1.43 GHz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GB microSD (Class 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18.04 (JetPack 4.6)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4A via barrel jack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60020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4632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25780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57800" y="1965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language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903720" y="160020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31520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4.8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1965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capture &amp; display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260604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4632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257800" y="26974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5780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model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903720" y="260604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03720" y="2679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315200" y="26974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1.11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Jetson-compatible wheel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846320" y="361188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4632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25780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8.2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57800" y="3977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optimisation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903720" y="3611880"/>
            <a:ext cx="1965960" cy="868680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90372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315200" y="37033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Remote SSH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3977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65760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traffic_light_project/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├── main.py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├── requirements.txt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├── README.md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├── utils/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│     ├── detector.py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│     ├── traffic_controller.py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│     └── display.py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├── models/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│     └── yolov8n.pt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└── data/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12344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1627632"/>
            <a:ext cx="384048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16367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JetPack 4.6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81728" y="191109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SD card, enable CUDA, cuDNN, TensorRT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98264" y="2011680"/>
            <a:ext cx="0" cy="4297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206240" y="2478024"/>
            <a:ext cx="384048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81728" y="24871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Remote SSH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1728" y="27614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→ Remote SSH → Jetson Nano IP → open project folder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98264" y="2862072"/>
            <a:ext cx="0" cy="4297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206240" y="3328416"/>
            <a:ext cx="384048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81728" y="33375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1728" y="361188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ultralytics opencv-python numpy --break-system-packages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98264" y="3712464"/>
            <a:ext cx="0" cy="429768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206240" y="4178808"/>
            <a:ext cx="384048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81728" y="41879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44622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main.py --source 0 --lanes 2 --conf 0.4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135331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2588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" y="1344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Feed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USB/CSI camera → OpenCV VideoCapture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191109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51760" cy="1353312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3258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58184" y="1344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640×640, BGR→RGB, normalise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97880" y="191109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26480" y="1234440"/>
            <a:ext cx="2651760" cy="135331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258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38544" y="13441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 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783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detection, bounding boxes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2651760" cy="1353312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26080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29443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Assignment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of bbox → lane index (0 or 1)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351129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46120" y="2834640"/>
            <a:ext cx="2651760" cy="135331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292608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58184" y="29443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Controller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3756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green_time = 10 + count×2 (clamped)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97880" y="3511296"/>
            <a:ext cx="2286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26480" y="2834640"/>
            <a:ext cx="2651760" cy="1353312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2926080"/>
            <a:ext cx="347472" cy="347472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38544" y="294436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Output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1792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HUD + GPIO LEDs (optional)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91640" y="2587752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05740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325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8600" y="1883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4231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TensorRT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04872" y="1234440"/>
            <a:ext cx="205740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1325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04872" y="1883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04872" y="24231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1234440"/>
            <a:ext cx="2057400" cy="1417320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81144" y="1325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581144" y="1883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1144" y="24231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Fixed Timer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57416" y="1234440"/>
            <a:ext cx="2057400" cy="14173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57416" y="132588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10–60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57416" y="18836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57416" y="242316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Range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2834640"/>
          <a:ext cx="3383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TensorRT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TensorRT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10–14 FPS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22–30 FPS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Solutions &amp;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1605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55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PyTorch on Jetson Nano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19110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Used NVIDIA's JetPack-compatible PyTorch wheel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41605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45973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Low FPS without GPU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2715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Exported model to TensorRT FP16 format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41605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2644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Night-time detection drop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3520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Tuned confidence threshold to 0.4; add IR option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14216"/>
            <a:ext cx="4160520" cy="713232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40690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Lane boundary without sensors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" y="4325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Virtual lane strips by horizontal pixel division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600200"/>
            <a:ext cx="402336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1673352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Intersections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76672" y="194767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signals at urban junctions without road sensors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04872"/>
            <a:ext cx="402336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76672" y="2478024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Zones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75234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adaptive signals at single-lane road works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9544"/>
            <a:ext cx="402336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🚑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76672" y="3282696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Corridors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355701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green for heavy-traffic routes during incidents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4014216"/>
            <a:ext cx="4023360" cy="713232"/>
          </a:xfrm>
          <a:prstGeom prst="rect">
            <a:avLst/>
          </a:prstGeom>
          <a:solidFill>
            <a:srgbClr val="F0F7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🛣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76672" y="4087368"/>
            <a:ext cx="3401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Ramp Metering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76672" y="436168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on-ramp flow based on real-time vehicle count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68096"/>
            <a:ext cx="8412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real-time adaptive traffic signal system on Jetson Nano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 achieves 22–30 FPS with TensorRT — suitable for live deployment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duration adapts dynamically from 10s to 60s based on vehicle density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reduction in average wait time vs fixed-timer baseline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modular Python codebase — easy to extend and maintain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integration to control physical traffic light LEDs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intersection with multi-camera support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detection &amp; priority override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&amp; cyclist phase integration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corridor-level coordination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 model trained on Indian traffic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8404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Nahata  |  1024240083  |  Group 2X13  |  UTA035 – EDP (Edge Computing)  |  TIET Patiala  |  April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de Screenshots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65760" y="164592"/>
            <a:ext cx="1800000" cy="292608"/>
          </a:xfrm>
          <a:prstGeom prst="rect">
            <a:avLst/>
          </a:prstGeom>
          <a:solidFill>
            <a:srgbClr val="00B4D8"/>
          </a:solidFill>
        </p:spPr>
        <p:txBody>
          <a:bodyPr wrap="square" lIns="91440" tIns="0" rIns="0" bIns="0" rtlCol="0" anchor="ctr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CODE WALKTHROUGH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80000"/>
            <a:ext cx="8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0D1B2A"/>
                </a:solidFill>
                <a:latin typeface="Calibri"/>
              </a:rPr>
              <a:t>Code Screenshots</a:t>
            </a:r>
          </a:p>
        </p:txBody>
      </p:sp>
      <p:sp>
        <p:nvSpPr>
          <p:cNvPr id="10" name="lbl1"/>
          <p:cNvSpPr/>
          <p:nvPr/>
        </p:nvSpPr>
        <p:spPr>
          <a:xfrm>
            <a:off x="365760" y="9200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0B4D8"/>
                </a:solidFill>
                <a:latin typeface="Consolas"/>
              </a:rPr>
              <a:t>main.py - Imports &amp; Arguments</a:t>
            </a:r>
          </a:p>
        </p:txBody>
      </p:sp>
      <p:pic>
        <p:nvPicPr>
          <p:cNvPr id="4" name="img1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" y="1120000"/>
            <a:ext cx="4200000" cy="1650000"/>
          </a:xfrm>
          <a:prstGeom prst="rect">
            <a:avLst/>
          </a:prstGeom>
          <a:ln w="19050">
            <a:solidFill>
              <a:srgbClr val="00B4D8"/>
            </a:solidFill>
          </a:ln>
        </p:spPr>
      </p:pic>
      <p:sp>
        <p:nvSpPr>
          <p:cNvPr id="11" name="lbl2"/>
          <p:cNvSpPr/>
          <p:nvPr/>
        </p:nvSpPr>
        <p:spPr>
          <a:xfrm>
            <a:off x="4750000" y="920000"/>
            <a:ext cx="40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0B4D8"/>
                </a:solidFill>
                <a:latin typeface="Consolas"/>
              </a:rPr>
              <a:t>main.py - Detection Loop (while True)</a:t>
            </a:r>
          </a:p>
        </p:txBody>
      </p:sp>
      <p:pic>
        <p:nvPicPr>
          <p:cNvPr id="5" name="img3"/>
          <p:cNvPicPr/>
          <p:nvPr/>
        </p:nvPicPr>
        <p:blipFill>
          <a:blip r:embed="rId3"/>
          <a:stretch>
            <a:fillRect/>
          </a:stretch>
        </p:blipFill>
        <p:spPr>
          <a:xfrm>
            <a:off x="4750000" y="1120000"/>
            <a:ext cx="4050000" cy="1650000"/>
          </a:xfrm>
          <a:prstGeom prst="rect">
            <a:avLst/>
          </a:prstGeom>
          <a:ln w="19050">
            <a:solidFill>
              <a:srgbClr val="00B4D8"/>
            </a:solidFill>
          </a:ln>
        </p:spPr>
      </p:pic>
      <p:sp>
        <p:nvSpPr>
          <p:cNvPr id="12" name="lbl3"/>
          <p:cNvSpPr/>
          <p:nvPr/>
        </p:nvSpPr>
        <p:spPr>
          <a:xfrm>
            <a:off x="365760" y="2920000"/>
            <a:ext cx="4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0B4D8"/>
                </a:solidFill>
                <a:latin typeface="Consolas"/>
              </a:rPr>
              <a:t>main.py - Components Initialization</a:t>
            </a:r>
          </a:p>
        </p:txBody>
      </p:sp>
      <p:pic>
        <p:nvPicPr>
          <p:cNvPr id="6" name="img2"/>
          <p:cNvPicPr/>
          <p:nvPr/>
        </p:nvPicPr>
        <p:blipFill>
          <a:blip r:embed="rId4"/>
          <a:stretch>
            <a:fillRect/>
          </a:stretch>
        </p:blipFill>
        <p:spPr>
          <a:xfrm>
            <a:off x="365760" y="3120000"/>
            <a:ext cx="4200000" cy="1700000"/>
          </a:xfrm>
          <a:prstGeom prst="rect">
            <a:avLst/>
          </a:prstGeom>
          <a:ln w="19050">
            <a:solidFill>
              <a:srgbClr val="00B4D8"/>
            </a:solidFill>
          </a:ln>
        </p:spPr>
      </p:pic>
      <p:sp>
        <p:nvSpPr>
          <p:cNvPr id="13" name="lbl4"/>
          <p:cNvSpPr/>
          <p:nvPr/>
        </p:nvSpPr>
        <p:spPr>
          <a:xfrm>
            <a:off x="4750000" y="2920000"/>
            <a:ext cx="405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000" b="1" dirty="0">
                <a:solidFill>
                  <a:srgbClr val="00B4D8"/>
                </a:solidFill>
                <a:latin typeface="Consolas"/>
              </a:rPr>
              <a:t>traffic_controller.py - Adaptive Formula</a:t>
            </a:r>
          </a:p>
        </p:txBody>
      </p:sp>
      <p:pic>
        <p:nvPicPr>
          <p:cNvPr id="7" name="img5"/>
          <p:cNvPicPr/>
          <p:nvPr/>
        </p:nvPicPr>
        <p:blipFill>
          <a:blip r:embed="rId5"/>
          <a:stretch>
            <a:fillRect/>
          </a:stretch>
        </p:blipFill>
        <p:spPr>
          <a:xfrm>
            <a:off x="4750000" y="3120000"/>
            <a:ext cx="4050000" cy="950000"/>
          </a:xfrm>
          <a:prstGeom prst="rect">
            <a:avLst/>
          </a:prstGeom>
          <a:ln w="19050">
            <a:solidFill>
              <a:srgbClr val="00B4D8"/>
            </a:solidFill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rminal Output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365760" y="164592"/>
            <a:ext cx="1800000" cy="292608"/>
          </a:xfrm>
          <a:prstGeom prst="rect">
            <a:avLst/>
          </a:prstGeom>
          <a:solidFill>
            <a:srgbClr val="00B4D8"/>
          </a:solidFill>
        </p:spPr>
        <p:txBody>
          <a:bodyPr wrap="square" lIns="91440" tIns="0" rIns="0" bIns="0" rtlCol="0" anchor="ctr"/>
          <a:lstStyle/>
          <a:p>
            <a:pPr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LIVE DEMO OUTPUT</a:t>
            </a:r>
          </a:p>
        </p:txBody>
      </p:sp>
      <p:sp>
        <p:nvSpPr>
          <p:cNvPr id="3" name="Title"/>
          <p:cNvSpPr/>
          <p:nvPr/>
        </p:nvSpPr>
        <p:spPr>
          <a:xfrm>
            <a:off x="365760" y="480000"/>
            <a:ext cx="84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Terminal Output — Jetson Nano (Headless)</a:t>
            </a:r>
          </a:p>
        </p:txBody>
      </p:sp>
      <p:pic>
        <p:nvPicPr>
          <p:cNvPr id="4" name="terminal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" y="950000"/>
            <a:ext cx="5500000" cy="3800000"/>
          </a:xfrm>
          <a:prstGeom prst="rect">
            <a:avLst/>
          </a:prstGeom>
          <a:ln w="19050">
            <a:solidFill>
              <a:srgbClr val="00FF00"/>
            </a:solidFill>
          </a:ln>
        </p:spPr>
      </p:pic>
      <p:sp>
        <p:nvSpPr>
          <p:cNvPr id="5" name="Inference"/>
          <p:cNvSpPr/>
          <p:nvPr/>
        </p:nvSpPr>
        <p:spPr>
          <a:xfrm>
            <a:off x="6050000" y="950000"/>
            <a:ext cx="2800000" cy="3800000"/>
          </a:xfrm>
          <a:prstGeom prst="rect">
            <a:avLst/>
          </a:prstGeom>
          <a:solidFill>
            <a:srgbClr val="1A2E3F"/>
          </a:solidFill>
          <a:ln w="19050">
            <a:solidFill>
              <a:srgbClr val="00B4D8"/>
            </a:solidFill>
          </a:ln>
        </p:spPr>
        <p:txBody>
          <a:bodyPr wrap="square" lIns="160000" tIns="160000" rIns="160000" bIns="160000" rtlCol="0" anchor="t"/>
          <a:lstStyle/>
          <a:p>
            <a:pPr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/>
              </a:rPr>
              <a:t>Inference Analysis</a:t>
            </a:r>
          </a:p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buNone/>
            </a:pPr>
            <a:r>
              <a:rPr lang="en-US" sz="1000" b="1" dirty="0">
                <a:solidFill>
                  <a:srgbClr val="00FF00"/>
                </a:solidFill>
                <a:latin typeface="Calibri"/>
              </a:rPr>
              <a:t>4 vehicles detected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alibri"/>
              </a:rPr>
              <a:t>Green time: 18s (vs 10s base)</a:t>
            </a:r>
          </a:p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buNone/>
            </a:pPr>
            <a:r>
              <a:rPr lang="en-US" sz="1000" b="1" dirty="0">
                <a:solidFill>
                  <a:srgbClr val="00FF00"/>
                </a:solidFill>
                <a:latin typeface="Calibri"/>
              </a:rPr>
              <a:t>5 vehicles detected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alibri"/>
              </a:rPr>
              <a:t>Lane 0: 16s, Lane 1: 14s</a:t>
            </a:r>
          </a:p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buNone/>
            </a:pPr>
            <a:r>
              <a:rPr lang="en-US" sz="1000" b="1" dirty="0">
                <a:solidFill>
                  <a:srgbClr val="FFFF00"/>
                </a:solidFill>
                <a:latin typeface="Calibri"/>
              </a:rPr>
              <a:t>Formula Verified: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onsolas"/>
              </a:rPr>
              <a:t>10 + 4x2 = 18s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onsolas"/>
              </a:rPr>
              <a:t>10 + 3x2 = 16s</a:t>
            </a:r>
          </a:p>
          <a:p>
            <a:pPr algn="l"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buNone/>
            </a:pPr>
            <a:r>
              <a:rPr lang="en-US" sz="1000" b="1" dirty="0">
                <a:solidFill>
                  <a:srgbClr val="00B4D8"/>
                </a:solidFill>
                <a:latin typeface="Calibri"/>
              </a:rPr>
              <a:t>Platform: Jetson Nano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alibri"/>
              </a:rPr>
              <a:t>Headless mode via SSH</a:t>
            </a:r>
          </a:p>
          <a:p>
            <a:pPr algn="l">
              <a:buNone/>
            </a:pPr>
            <a:r>
              <a:rPr lang="en-US" sz="950" dirty="0">
                <a:solidFill>
                  <a:srgbClr val="CCCCCC"/>
                </a:solidFill>
                <a:latin typeface="Calibri"/>
              </a:rPr>
              <a:t>YOLOv8n model running live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Traffic Light Duration System</dc:title>
  <dc:subject>PptxGenJS Presentation</dc:subject>
  <dc:creator>Aditya Nahata</dc:creator>
  <cp:lastModifiedBy>Aditya Nahata</cp:lastModifiedBy>
  <cp:revision>1</cp:revision>
  <dcterms:created xsi:type="dcterms:W3CDTF">2026-04-23T22:33:19Z</dcterms:created>
  <dcterms:modified xsi:type="dcterms:W3CDTF">2026-04-23T22:33:19Z</dcterms:modified>
</cp:coreProperties>
</file>